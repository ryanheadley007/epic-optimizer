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61" r:id="rId3"/>
    <p:sldId id="263" r:id="rId4"/>
    <p:sldId id="264" r:id="rId5"/>
    <p:sldId id="262" r:id="rId6"/>
    <p:sldId id="258" r:id="rId7"/>
    <p:sldId id="265" r:id="rId8"/>
  </p:sldIdLst>
  <p:sldSz cx="18288000" cy="10287000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oboto Bold" panose="02000000000000000000" pitchFamily="2" charset="0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800"/>
    <a:srgbClr val="1A1E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618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an Headley" userId="e910418c670f7dc8" providerId="LiveId" clId="{EDEDBB5A-AAFE-4901-B791-B69CF1A688EA}"/>
    <pc:docChg chg="modSld">
      <pc:chgData name="Ryan Headley" userId="e910418c670f7dc8" providerId="LiveId" clId="{EDEDBB5A-AAFE-4901-B791-B69CF1A688EA}" dt="2026-05-08T20:12:25.250" v="9" actId="1035"/>
      <pc:docMkLst>
        <pc:docMk/>
      </pc:docMkLst>
      <pc:sldChg chg="modSp mod">
        <pc:chgData name="Ryan Headley" userId="e910418c670f7dc8" providerId="LiveId" clId="{EDEDBB5A-AAFE-4901-B791-B69CF1A688EA}" dt="2026-05-08T20:12:25.250" v="9" actId="1035"/>
        <pc:sldMkLst>
          <pc:docMk/>
          <pc:sldMk cId="0" sldId="258"/>
        </pc:sldMkLst>
        <pc:picChg chg="mod">
          <ac:chgData name="Ryan Headley" userId="e910418c670f7dc8" providerId="LiveId" clId="{EDEDBB5A-AAFE-4901-B791-B69CF1A688EA}" dt="2026-05-08T20:12:25.250" v="9" actId="1035"/>
          <ac:picMkLst>
            <pc:docMk/>
            <pc:sldMk cId="0" sldId="258"/>
            <ac:picMk id="22" creationId="{4FC4C1CE-A834-88C4-7D20-E25EEC3099C3}"/>
          </ac:picMkLst>
        </pc:picChg>
        <pc:picChg chg="mod">
          <ac:chgData name="Ryan Headley" userId="e910418c670f7dc8" providerId="LiveId" clId="{EDEDBB5A-AAFE-4901-B791-B69CF1A688EA}" dt="2026-05-08T20:12:06.213" v="0" actId="1076"/>
          <ac:picMkLst>
            <pc:docMk/>
            <pc:sldMk cId="0" sldId="258"/>
            <ac:picMk id="24" creationId="{C36BB50C-5051-7FFC-CE84-982A674FCDA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B079379-86BF-4552-6E41-78731BA418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52500"/>
            <a:ext cx="18288000" cy="121920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000125" y="77921"/>
            <a:ext cx="16259175" cy="13574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401"/>
              </a:lnSpc>
              <a:spcBef>
                <a:spcPct val="0"/>
              </a:spcBef>
            </a:pPr>
            <a:r>
              <a:rPr lang="en-US" sz="8144" b="1" dirty="0">
                <a:solidFill>
                  <a:srgbClr val="FF8800"/>
                </a:solidFill>
                <a:latin typeface="Roboto Bold"/>
                <a:ea typeface="Roboto Bold"/>
                <a:cs typeface="Roboto Bold"/>
                <a:sym typeface="Roboto Bold"/>
              </a:rPr>
              <a:t>Steps needed to Trust Their Data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00125" y="2443208"/>
            <a:ext cx="9205758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143000" indent="-114300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2C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 Bold"/>
              </a:rPr>
              <a:t>Insight:  Provide AMS insights to see what areas of their data needed to be addressed. </a:t>
            </a:r>
          </a:p>
          <a:p>
            <a:pPr marL="1143000" indent="-114300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2C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 Bold"/>
              </a:rPr>
              <a:t>Recommendations:  Based an analytical review from our insights, certain suggestions were made to provide actions needed to standardize their AMS Data Sets</a:t>
            </a:r>
          </a:p>
          <a:p>
            <a:pPr marL="1143000" indent="-114300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2C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 Bold"/>
              </a:rPr>
              <a:t>Scope of Work:  Apply several techniques to identify and update AMS system with best practices configurations and client records desired results</a:t>
            </a:r>
          </a:p>
          <a:p>
            <a:pPr marL="1143000" indent="-114300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2C2B2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 Bold"/>
              </a:rPr>
              <a:t>Results:  Review results compared to initial data set</a:t>
            </a:r>
          </a:p>
          <a:p>
            <a:pPr marL="1143000" indent="-114300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sz="2400" b="1" dirty="0">
              <a:solidFill>
                <a:srgbClr val="2C2B2B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15465507" y="7759880"/>
            <a:ext cx="5686212" cy="5686212"/>
          </a:xfrm>
          <a:custGeom>
            <a:avLst/>
            <a:gdLst/>
            <a:ahLst/>
            <a:cxnLst/>
            <a:rect l="l" t="t" r="r" b="b"/>
            <a:pathLst>
              <a:path w="5686212" h="5686212">
                <a:moveTo>
                  <a:pt x="0" y="0"/>
                </a:moveTo>
                <a:lnTo>
                  <a:pt x="5686213" y="0"/>
                </a:lnTo>
                <a:lnTo>
                  <a:pt x="5686213" y="5686212"/>
                </a:lnTo>
                <a:lnTo>
                  <a:pt x="0" y="56862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PE"/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E8A62DC3-3E31-AC9D-5F4C-F83ABEF6F399}"/>
              </a:ext>
            </a:extLst>
          </p:cNvPr>
          <p:cNvSpPr/>
          <p:nvPr/>
        </p:nvSpPr>
        <p:spPr>
          <a:xfrm>
            <a:off x="10952357" y="2092812"/>
            <a:ext cx="6335518" cy="6833323"/>
          </a:xfrm>
          <a:prstGeom prst="roundRect">
            <a:avLst/>
          </a:prstGeom>
          <a:blipFill>
            <a:blip r:embed="rId4"/>
            <a:stretch>
              <a:fillRect t="-28498" b="-28498"/>
            </a:stretch>
          </a:blipFill>
        </p:spPr>
        <p:txBody>
          <a:bodyPr/>
          <a:lstStyle/>
          <a:p>
            <a:endParaRPr lang="es-P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13131-5C5A-3F9C-7344-AEA31F60A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19ABF64-B593-47B2-09B1-0F7EA546107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52500"/>
            <a:ext cx="18288000" cy="12192000"/>
          </a:xfrm>
          <a:prstGeom prst="rect">
            <a:avLst/>
          </a:prstGeom>
        </p:spPr>
      </p:pic>
      <p:grpSp>
        <p:nvGrpSpPr>
          <p:cNvPr id="9" name="Group 9">
            <a:extLst>
              <a:ext uri="{FF2B5EF4-FFF2-40B4-BE49-F238E27FC236}">
                <a16:creationId xmlns:a16="http://schemas.microsoft.com/office/drawing/2014/main" id="{FF014243-B4D6-275E-62F8-0C7B7210A3CE}"/>
              </a:ext>
            </a:extLst>
          </p:cNvPr>
          <p:cNvGrpSpPr/>
          <p:nvPr/>
        </p:nvGrpSpPr>
        <p:grpSpPr>
          <a:xfrm>
            <a:off x="891456" y="3334271"/>
            <a:ext cx="1472612" cy="1472612"/>
            <a:chOff x="0" y="0"/>
            <a:chExt cx="1963482" cy="1963482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94956BC3-0ECB-E221-A03B-31C1113F11A2}"/>
                </a:ext>
              </a:extLst>
            </p:cNvPr>
            <p:cNvGrpSpPr/>
            <p:nvPr/>
          </p:nvGrpSpPr>
          <p:grpSpPr>
            <a:xfrm>
              <a:off x="0" y="0"/>
              <a:ext cx="1963482" cy="1963482"/>
              <a:chOff x="0" y="0"/>
              <a:chExt cx="812800" cy="812800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C8CDC87E-B481-690A-9D4A-C9867199B6CD}"/>
                  </a:ext>
                </a:extLst>
              </p:cNvPr>
              <p:cNvSpPr/>
              <p:nvPr/>
            </p:nvSpPr>
            <p:spPr>
              <a:xfrm>
                <a:off x="90976" y="90976"/>
                <a:ext cx="630849" cy="630849"/>
              </a:xfrm>
              <a:custGeom>
                <a:avLst/>
                <a:gdLst/>
                <a:ahLst/>
                <a:cxnLst/>
                <a:rect l="l" t="t" r="r" b="b"/>
                <a:pathLst>
                  <a:path w="630849" h="630849">
                    <a:moveTo>
                      <a:pt x="518624" y="112224"/>
                    </a:moveTo>
                    <a:lnTo>
                      <a:pt x="518624" y="112224"/>
                    </a:lnTo>
                    <a:cubicBezTo>
                      <a:pt x="630848" y="224448"/>
                      <a:pt x="630848" y="406400"/>
                      <a:pt x="518624" y="518624"/>
                    </a:cubicBezTo>
                    <a:lnTo>
                      <a:pt x="518624" y="518624"/>
                    </a:lnTo>
                    <a:cubicBezTo>
                      <a:pt x="406400" y="630848"/>
                      <a:pt x="224448" y="630848"/>
                      <a:pt x="112224" y="518624"/>
                    </a:cubicBezTo>
                    <a:lnTo>
                      <a:pt x="112224" y="518624"/>
                    </a:lnTo>
                    <a:cubicBezTo>
                      <a:pt x="0" y="406400"/>
                      <a:pt x="0" y="224448"/>
                      <a:pt x="112224" y="112224"/>
                    </a:cubicBezTo>
                    <a:lnTo>
                      <a:pt x="112224" y="112224"/>
                    </a:lnTo>
                    <a:cubicBezTo>
                      <a:pt x="224448" y="0"/>
                      <a:pt x="406400" y="0"/>
                      <a:pt x="518624" y="112224"/>
                    </a:cubicBezTo>
                    <a:close/>
                  </a:path>
                </a:pathLst>
              </a:custGeom>
              <a:solidFill>
                <a:srgbClr val="FF8800"/>
              </a:solidFill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1C12DB3D-9EB4-0DBE-6585-9A4879812D36}"/>
                  </a:ext>
                </a:extLst>
              </p:cNvPr>
              <p:cNvSpPr txBox="1"/>
              <p:nvPr/>
            </p:nvSpPr>
            <p:spPr>
              <a:xfrm>
                <a:off x="139700" y="25400"/>
                <a:ext cx="533400" cy="647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968"/>
                  </a:lnSpc>
                </a:pPr>
                <a:endParaRPr/>
              </a:p>
            </p:txBody>
          </p:sp>
        </p:grp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CAA35858-0FC0-1E35-E5AA-13773427BDC7}"/>
                </a:ext>
              </a:extLst>
            </p:cNvPr>
            <p:cNvSpPr/>
            <p:nvPr/>
          </p:nvSpPr>
          <p:spPr>
            <a:xfrm>
              <a:off x="498061" y="498061"/>
              <a:ext cx="967361" cy="967361"/>
            </a:xfrm>
            <a:custGeom>
              <a:avLst/>
              <a:gdLst/>
              <a:ahLst/>
              <a:cxnLst/>
              <a:rect l="l" t="t" r="r" b="b"/>
              <a:pathLst>
                <a:path w="967361" h="967361">
                  <a:moveTo>
                    <a:pt x="0" y="0"/>
                  </a:moveTo>
                  <a:lnTo>
                    <a:pt x="967361" y="0"/>
                  </a:lnTo>
                  <a:lnTo>
                    <a:pt x="967361" y="967361"/>
                  </a:lnTo>
                  <a:lnTo>
                    <a:pt x="0" y="967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AE3B64EF-0227-6CF2-713E-8B9CDB3A41B1}"/>
              </a:ext>
            </a:extLst>
          </p:cNvPr>
          <p:cNvSpPr txBox="1"/>
          <p:nvPr/>
        </p:nvSpPr>
        <p:spPr>
          <a:xfrm>
            <a:off x="1000125" y="3163"/>
            <a:ext cx="7264479" cy="1357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01"/>
              </a:lnSpc>
              <a:spcBef>
                <a:spcPct val="0"/>
              </a:spcBef>
            </a:pPr>
            <a:r>
              <a:rPr lang="en-US" sz="8144" b="1" dirty="0">
                <a:solidFill>
                  <a:srgbClr val="FF8800"/>
                </a:solidFill>
                <a:latin typeface="Roboto Bold"/>
                <a:ea typeface="Roboto Bold"/>
                <a:cs typeface="Roboto Bold"/>
                <a:sym typeface="Roboto Bold"/>
              </a:rPr>
              <a:t>Insight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9B27A79-A394-31AB-3D5A-FE03DA007163}"/>
              </a:ext>
            </a:extLst>
          </p:cNvPr>
          <p:cNvSpPr txBox="1"/>
          <p:nvPr/>
        </p:nvSpPr>
        <p:spPr>
          <a:xfrm>
            <a:off x="1028700" y="1141090"/>
            <a:ext cx="7560969" cy="988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78"/>
              </a:lnSpc>
              <a:spcBef>
                <a:spcPct val="0"/>
              </a:spcBef>
            </a:pPr>
            <a:r>
              <a:rPr lang="en-US" sz="5699" b="1" dirty="0">
                <a:solidFill>
                  <a:srgbClr val="2C2B2B"/>
                </a:solidFill>
                <a:latin typeface="Roboto Bold"/>
                <a:ea typeface="Roboto Bold"/>
                <a:cs typeface="Roboto Bold"/>
                <a:sym typeface="Roboto Bold"/>
              </a:rPr>
              <a:t>What did we find?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CBAB384-E3B1-EEDD-7A7E-E6782D0D2256}"/>
              </a:ext>
            </a:extLst>
          </p:cNvPr>
          <p:cNvSpPr txBox="1"/>
          <p:nvPr/>
        </p:nvSpPr>
        <p:spPr>
          <a:xfrm>
            <a:off x="2364066" y="3418496"/>
            <a:ext cx="12030359" cy="44837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156"/>
              </a:lnSpc>
              <a:spcBef>
                <a:spcPct val="0"/>
              </a:spcBef>
            </a:pPr>
            <a:r>
              <a:rPr lang="en-US" sz="2254" spc="112" dirty="0">
                <a:solidFill>
                  <a:srgbClr val="2C2B2B"/>
                </a:solidFill>
                <a:latin typeface="Roboto"/>
                <a:ea typeface="Roboto"/>
                <a:cs typeface="Roboto"/>
                <a:sym typeface="Roboto"/>
              </a:rPr>
              <a:t>Top areas of data improvements that needed to be addressed include:  </a:t>
            </a:r>
          </a:p>
          <a:p>
            <a:pPr marL="800100" lvl="1" indent="-342900" algn="just">
              <a:lnSpc>
                <a:spcPts val="315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254" spc="112" dirty="0">
                <a:solidFill>
                  <a:srgbClr val="2C2B2B"/>
                </a:solidFill>
                <a:latin typeface="Roboto"/>
                <a:ea typeface="Roboto"/>
                <a:cs typeface="Roboto"/>
                <a:sym typeface="Roboto"/>
              </a:rPr>
              <a:t>40+ Commissionable INACTIVE Producers applied to 2,000+ policies</a:t>
            </a:r>
          </a:p>
          <a:p>
            <a:pPr marL="800100" lvl="1" indent="-342900" algn="just">
              <a:lnSpc>
                <a:spcPts val="315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254" spc="112" dirty="0">
                <a:solidFill>
                  <a:srgbClr val="2C2B2B"/>
                </a:solidFill>
                <a:latin typeface="Roboto"/>
                <a:ea typeface="Roboto"/>
                <a:cs typeface="Roboto"/>
                <a:sym typeface="Roboto"/>
              </a:rPr>
              <a:t>2,869 polices had no producer associated </a:t>
            </a:r>
          </a:p>
          <a:p>
            <a:pPr marL="800100" lvl="1" indent="-342900" algn="just">
              <a:lnSpc>
                <a:spcPts val="315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254" spc="112" dirty="0">
                <a:solidFill>
                  <a:srgbClr val="2C2B2B"/>
                </a:solidFill>
                <a:latin typeface="Roboto"/>
                <a:ea typeface="Roboto"/>
                <a:cs typeface="Roboto"/>
                <a:sym typeface="Roboto"/>
              </a:rPr>
              <a:t>4000+ policies with no Line Commission Percentage or Estimated Revenue</a:t>
            </a:r>
          </a:p>
          <a:p>
            <a:pPr marL="800100" lvl="1" indent="-342900" algn="just">
              <a:lnSpc>
                <a:spcPts val="315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254" spc="112" dirty="0">
                <a:solidFill>
                  <a:srgbClr val="2C2B2B"/>
                </a:solidFill>
                <a:latin typeface="Roboto"/>
                <a:ea typeface="Roboto"/>
                <a:cs typeface="Roboto"/>
                <a:sym typeface="Roboto"/>
              </a:rPr>
              <a:t>No HOUSE Producer for owned business</a:t>
            </a:r>
          </a:p>
          <a:p>
            <a:pPr marL="800100" lvl="1" indent="-342900" algn="just">
              <a:lnSpc>
                <a:spcPts val="315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254" spc="112" dirty="0">
                <a:solidFill>
                  <a:srgbClr val="2C2B2B"/>
                </a:solidFill>
                <a:latin typeface="Roboto"/>
                <a:ea typeface="Roboto"/>
                <a:cs typeface="Roboto"/>
                <a:sym typeface="Roboto"/>
              </a:rPr>
              <a:t>Premium/Commission Calculations feature not enabled</a:t>
            </a:r>
          </a:p>
          <a:p>
            <a:pPr marL="800100" lvl="1" indent="-342900" algn="just">
              <a:lnSpc>
                <a:spcPts val="315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254" spc="112" dirty="0">
                <a:solidFill>
                  <a:srgbClr val="2C2B2B"/>
                </a:solidFill>
                <a:latin typeface="Roboto"/>
                <a:ea typeface="Roboto"/>
                <a:cs typeface="Roboto"/>
                <a:sym typeface="Roboto"/>
              </a:rPr>
              <a:t>Carrier record issues on both Carrier files &amp; interface setup</a:t>
            </a:r>
          </a:p>
          <a:p>
            <a:pPr marL="800100" lvl="1" indent="-342900" algn="just">
              <a:lnSpc>
                <a:spcPts val="315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254" spc="112" dirty="0">
                <a:solidFill>
                  <a:srgbClr val="2C2B2B"/>
                </a:solidFill>
                <a:latin typeface="Roboto"/>
                <a:ea typeface="Roboto"/>
                <a:cs typeface="Roboto"/>
                <a:sym typeface="Roboto"/>
              </a:rPr>
              <a:t>Estimated Revenue was showing less than 50% of actual revenue received</a:t>
            </a:r>
          </a:p>
          <a:p>
            <a:pPr marL="800100" lvl="1" indent="-342900" algn="just">
              <a:lnSpc>
                <a:spcPts val="315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254" spc="112" dirty="0">
                <a:solidFill>
                  <a:srgbClr val="2C2B2B"/>
                </a:solidFill>
                <a:latin typeface="Roboto"/>
                <a:ea typeface="Roboto"/>
                <a:cs typeface="Roboto"/>
                <a:sym typeface="Roboto"/>
              </a:rPr>
              <a:t>Interface/Download was setup for only 2 carriers with improper configuration settings</a:t>
            </a:r>
          </a:p>
          <a:p>
            <a:pPr marL="800100" lvl="1" indent="-342900" algn="just">
              <a:lnSpc>
                <a:spcPts val="315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254" u="none" strike="noStrike" spc="112" dirty="0">
              <a:solidFill>
                <a:srgbClr val="2C2B2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B55BE08D-E9FA-BAEB-2B59-FEE6392B6BB0}"/>
              </a:ext>
            </a:extLst>
          </p:cNvPr>
          <p:cNvSpPr/>
          <p:nvPr/>
        </p:nvSpPr>
        <p:spPr>
          <a:xfrm>
            <a:off x="15465507" y="7759880"/>
            <a:ext cx="5686212" cy="5686212"/>
          </a:xfrm>
          <a:custGeom>
            <a:avLst/>
            <a:gdLst/>
            <a:ahLst/>
            <a:cxnLst/>
            <a:rect l="l" t="t" r="r" b="b"/>
            <a:pathLst>
              <a:path w="5686212" h="5686212">
                <a:moveTo>
                  <a:pt x="0" y="0"/>
                </a:moveTo>
                <a:lnTo>
                  <a:pt x="5686213" y="0"/>
                </a:lnTo>
                <a:lnTo>
                  <a:pt x="5686213" y="5686212"/>
                </a:lnTo>
                <a:lnTo>
                  <a:pt x="0" y="56862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64452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5F466-FBF7-006E-44FC-61B6DC607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49274F5-E0AF-264B-9B14-293F176DBB2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52500"/>
            <a:ext cx="18288000" cy="121920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387DB42E-A636-9B91-A4D3-7DB77E6AD13E}"/>
              </a:ext>
            </a:extLst>
          </p:cNvPr>
          <p:cNvSpPr txBox="1"/>
          <p:nvPr/>
        </p:nvSpPr>
        <p:spPr>
          <a:xfrm>
            <a:off x="1000125" y="3163"/>
            <a:ext cx="7264479" cy="1357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01"/>
              </a:lnSpc>
              <a:spcBef>
                <a:spcPct val="0"/>
              </a:spcBef>
            </a:pPr>
            <a:r>
              <a:rPr lang="en-US" sz="8144" b="1" dirty="0">
                <a:solidFill>
                  <a:srgbClr val="FF8800"/>
                </a:solidFill>
                <a:latin typeface="Roboto Bold"/>
                <a:ea typeface="Roboto Bold"/>
                <a:cs typeface="Roboto Bold"/>
                <a:sym typeface="Roboto Bold"/>
              </a:rPr>
              <a:t>Insight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78F1090-3684-7419-E894-50F89835E988}"/>
              </a:ext>
            </a:extLst>
          </p:cNvPr>
          <p:cNvSpPr txBox="1"/>
          <p:nvPr/>
        </p:nvSpPr>
        <p:spPr>
          <a:xfrm>
            <a:off x="1028700" y="1141090"/>
            <a:ext cx="10681519" cy="952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78"/>
              </a:lnSpc>
              <a:spcBef>
                <a:spcPct val="0"/>
              </a:spcBef>
            </a:pPr>
            <a:r>
              <a:rPr lang="en-US" sz="5699" b="1" dirty="0">
                <a:solidFill>
                  <a:srgbClr val="2C2B2B"/>
                </a:solidFill>
                <a:latin typeface="Roboto Bold"/>
                <a:ea typeface="Roboto Bold"/>
                <a:cs typeface="Roboto Bold"/>
                <a:sym typeface="Roboto Bold"/>
              </a:rPr>
              <a:t>How did we locate the issues? 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721E623-405F-1959-7D48-0C518E0FA7C5}"/>
              </a:ext>
            </a:extLst>
          </p:cNvPr>
          <p:cNvSpPr txBox="1"/>
          <p:nvPr/>
        </p:nvSpPr>
        <p:spPr>
          <a:xfrm>
            <a:off x="1047113" y="2255072"/>
            <a:ext cx="12030359" cy="12007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156"/>
              </a:lnSpc>
              <a:spcBef>
                <a:spcPct val="0"/>
              </a:spcBef>
            </a:pPr>
            <a:r>
              <a:rPr lang="en-US" sz="3200" spc="112" dirty="0">
                <a:solidFill>
                  <a:srgbClr val="FF8800"/>
                </a:solidFill>
                <a:latin typeface="Roboto"/>
                <a:ea typeface="Roboto"/>
                <a:cs typeface="Roboto"/>
                <a:sym typeface="Roboto"/>
              </a:rPr>
              <a:t>Applied Epic Dashboards</a:t>
            </a:r>
          </a:p>
          <a:p>
            <a:pPr marL="0" lvl="0" indent="0" algn="just">
              <a:lnSpc>
                <a:spcPts val="3156"/>
              </a:lnSpc>
              <a:spcBef>
                <a:spcPct val="0"/>
              </a:spcBef>
            </a:pPr>
            <a:endParaRPr lang="en-US" sz="2254" spc="112" dirty="0">
              <a:solidFill>
                <a:srgbClr val="2C2B2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800100" lvl="1" indent="-342900" algn="just">
              <a:lnSpc>
                <a:spcPts val="315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254" u="none" strike="noStrike" spc="112" dirty="0">
              <a:solidFill>
                <a:srgbClr val="2C2B2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763FB6C4-F66C-7D86-D270-F62764638037}"/>
              </a:ext>
            </a:extLst>
          </p:cNvPr>
          <p:cNvSpPr/>
          <p:nvPr/>
        </p:nvSpPr>
        <p:spPr>
          <a:xfrm>
            <a:off x="15465507" y="7759880"/>
            <a:ext cx="5686212" cy="5686212"/>
          </a:xfrm>
          <a:custGeom>
            <a:avLst/>
            <a:gdLst/>
            <a:ahLst/>
            <a:cxnLst/>
            <a:rect l="l" t="t" r="r" b="b"/>
            <a:pathLst>
              <a:path w="5686212" h="5686212">
                <a:moveTo>
                  <a:pt x="0" y="0"/>
                </a:moveTo>
                <a:lnTo>
                  <a:pt x="5686213" y="0"/>
                </a:lnTo>
                <a:lnTo>
                  <a:pt x="5686213" y="5686212"/>
                </a:lnTo>
                <a:lnTo>
                  <a:pt x="0" y="56862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PE"/>
          </a:p>
        </p:txBody>
      </p:sp>
      <p:sp>
        <p:nvSpPr>
          <p:cNvPr id="2" name="Freeform 4">
            <a:extLst>
              <a:ext uri="{FF2B5EF4-FFF2-40B4-BE49-F238E27FC236}">
                <a16:creationId xmlns:a16="http://schemas.microsoft.com/office/drawing/2014/main" id="{DDB523DE-A47A-F679-EF16-BB384E716DCB}"/>
              </a:ext>
            </a:extLst>
          </p:cNvPr>
          <p:cNvSpPr/>
          <p:nvPr/>
        </p:nvSpPr>
        <p:spPr>
          <a:xfrm>
            <a:off x="15888929" y="8408258"/>
            <a:ext cx="2172337" cy="1604834"/>
          </a:xfrm>
          <a:custGeom>
            <a:avLst/>
            <a:gdLst/>
            <a:ahLst/>
            <a:cxnLst/>
            <a:rect l="l" t="t" r="r" b="b"/>
            <a:pathLst>
              <a:path w="880173" h="880173">
                <a:moveTo>
                  <a:pt x="0" y="0"/>
                </a:moveTo>
                <a:lnTo>
                  <a:pt x="880173" y="0"/>
                </a:lnTo>
                <a:lnTo>
                  <a:pt x="880173" y="880173"/>
                </a:lnTo>
                <a:lnTo>
                  <a:pt x="0" y="8801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9C625B0-A03C-8548-C9FC-43CC77DF2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113" y="2720342"/>
            <a:ext cx="11205847" cy="6047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Applied Epic Dashboards are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interactive data visualization tools within the Applied Epic platform that present business performance data in an easy-to-understand visual format, tailored to specific roles within an agency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These dashboards help users answer questions about their agency's performance and make informed decisions based on relevant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Here's a more detailed breakdown: </a:t>
            </a:r>
          </a:p>
          <a:p>
            <a:pPr lvl="0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Role-Based:</a:t>
            </a:r>
            <a:r>
              <a:rPr lang="en-US" alt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Dashboards are customized for different user roles (e.g., accounting, producer, account manager).</a:t>
            </a:r>
          </a:p>
          <a:p>
            <a:pPr lvl="0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Data Visualization:</a:t>
            </a:r>
            <a:r>
              <a:rPr lang="en-US" alt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They present data through graphs, charts, and other visualizations, making it easier to understand trends and patterns.</a:t>
            </a:r>
          </a:p>
          <a:p>
            <a:pPr lvl="0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Embedded in Applied Epic:</a:t>
            </a:r>
            <a:r>
              <a:rPr lang="en-US" alt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They are part of the Applied Epic system, providing a central location for data insights.</a:t>
            </a:r>
          </a:p>
          <a:p>
            <a:pPr lvl="0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Actionable Insights:</a:t>
            </a:r>
            <a:r>
              <a:rPr lang="en-US" alt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Dashboards help users identify areas for improvement, track key performance indicators, and make data-driven decisions.</a:t>
            </a:r>
          </a:p>
          <a:p>
            <a:pPr lvl="0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 b="1" i="1" dirty="0">
                <a:solidFill>
                  <a:srgbClr val="FF88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Customization: Some dashboards allow for customization and the creation of custom visualizations</a:t>
            </a:r>
            <a:r>
              <a:rPr lang="en-US" altLang="en-US" sz="2000" i="1" dirty="0">
                <a:solidFill>
                  <a:srgbClr val="FF88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547C73-50CC-CF09-8946-77B2C9089E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383222">
            <a:off x="12462258" y="3101995"/>
            <a:ext cx="5236166" cy="40550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207979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90F08-9FC7-AE32-C635-55B4D2C21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7149DBC-CA5B-4A41-863B-07F20CD9C7F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52500"/>
            <a:ext cx="18288000" cy="121920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034E894A-5984-4018-01C2-8CF884036749}"/>
              </a:ext>
            </a:extLst>
          </p:cNvPr>
          <p:cNvSpPr txBox="1"/>
          <p:nvPr/>
        </p:nvSpPr>
        <p:spPr>
          <a:xfrm>
            <a:off x="5946252" y="2096270"/>
            <a:ext cx="5453787" cy="380535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968"/>
              </a:lnSpc>
            </a:pPr>
            <a:endParaRPr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184434E-4A07-F454-8527-E5453E0A72D9}"/>
              </a:ext>
            </a:extLst>
          </p:cNvPr>
          <p:cNvSpPr txBox="1"/>
          <p:nvPr/>
        </p:nvSpPr>
        <p:spPr>
          <a:xfrm>
            <a:off x="828372" y="118152"/>
            <a:ext cx="16631256" cy="13574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1401"/>
              </a:lnSpc>
              <a:spcBef>
                <a:spcPct val="0"/>
              </a:spcBef>
            </a:pPr>
            <a:r>
              <a:rPr lang="en-US" sz="8144" b="1" dirty="0">
                <a:solidFill>
                  <a:srgbClr val="FF8800"/>
                </a:solidFill>
                <a:latin typeface="Roboto Bold"/>
                <a:ea typeface="Roboto Bold"/>
                <a:cs typeface="Roboto Bold"/>
                <a:sym typeface="Roboto Bold"/>
              </a:rPr>
              <a:t>Staff Boom Recommendations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C51EC32-B8F1-1B28-9CC1-F311A881D88A}"/>
              </a:ext>
            </a:extLst>
          </p:cNvPr>
          <p:cNvSpPr txBox="1"/>
          <p:nvPr/>
        </p:nvSpPr>
        <p:spPr>
          <a:xfrm>
            <a:off x="1352428" y="2844188"/>
            <a:ext cx="12496307" cy="63480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spc="94" dirty="0">
                <a:latin typeface="Roboto"/>
                <a:ea typeface="Roboto"/>
                <a:cs typeface="Roboto"/>
                <a:sym typeface="Roboto"/>
              </a:rPr>
              <a:t>Build custom Dashboard for visibility and expediting clean-up procedures </a:t>
            </a:r>
            <a:endParaRPr lang="en-US" sz="2400" u="none" strike="noStrike" spc="94" dirty="0">
              <a:latin typeface="Roboto"/>
              <a:ea typeface="Roboto"/>
              <a:cs typeface="Roboto"/>
              <a:sym typeface="Roboto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u="none" strike="noStrike" spc="94" dirty="0">
                <a:latin typeface="Roboto"/>
                <a:ea typeface="Roboto"/>
                <a:cs typeface="Roboto"/>
                <a:sym typeface="Roboto"/>
              </a:rPr>
              <a:t>Producer Assignment Data Updates to over 4,800 lines of business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u="none" strike="noStrike" spc="94" dirty="0">
                <a:latin typeface="Roboto"/>
                <a:ea typeface="Roboto"/>
                <a:cs typeface="Roboto"/>
                <a:sym typeface="Roboto"/>
              </a:rPr>
              <a:t>Add Line Commission Percent to 4,000 active lines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spc="94" dirty="0">
                <a:latin typeface="Roboto"/>
                <a:ea typeface="Roboto"/>
                <a:cs typeface="Roboto"/>
                <a:sym typeface="Roboto"/>
              </a:rPr>
              <a:t>Combine all inactive commissionable producer polices into a new House employee commission agreement.</a:t>
            </a:r>
            <a:endParaRPr lang="en-US" sz="2400" u="none" strike="noStrike" spc="94" dirty="0">
              <a:latin typeface="Roboto"/>
              <a:ea typeface="Roboto"/>
              <a:cs typeface="Roboto"/>
              <a:sym typeface="Roboto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spc="94" dirty="0">
                <a:latin typeface="Roboto"/>
                <a:ea typeface="Roboto"/>
                <a:cs typeface="Roboto"/>
                <a:sym typeface="Roboto"/>
              </a:rPr>
              <a:t>Turn on Premium/Commission Calculations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spc="94" dirty="0">
                <a:latin typeface="Roboto"/>
                <a:ea typeface="Roboto"/>
                <a:cs typeface="Roboto"/>
                <a:sym typeface="Roboto"/>
              </a:rPr>
              <a:t>Reconfigure all interface partner carriers at the Company record and interface area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spc="94" dirty="0">
                <a:latin typeface="Roboto"/>
                <a:ea typeface="Roboto"/>
                <a:cs typeface="Roboto"/>
                <a:sym typeface="Roboto"/>
              </a:rPr>
              <a:t>Added 150 carriers to database to properly assign correct Issuing Carriers to policies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spc="94" dirty="0">
                <a:latin typeface="Roboto"/>
                <a:ea typeface="Roboto"/>
                <a:cs typeface="Roboto"/>
                <a:sym typeface="Roboto"/>
              </a:rPr>
              <a:t>Reconfigured all activity codes used for download of polices and eDocs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spc="94" dirty="0">
                <a:latin typeface="Roboto"/>
                <a:ea typeface="Roboto"/>
                <a:cs typeface="Roboto"/>
                <a:sym typeface="Roboto"/>
              </a:rPr>
              <a:t>Rebuild workflow processes to better manage migration data problems</a:t>
            </a:r>
          </a:p>
          <a:p>
            <a:pPr marL="342900" lvl="0" indent="-342900" algn="just">
              <a:lnSpc>
                <a:spcPts val="263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1883" spc="94" dirty="0">
              <a:solidFill>
                <a:srgbClr val="FF88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lvl="0" indent="-342900" algn="just">
              <a:lnSpc>
                <a:spcPts val="263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1883" spc="94" dirty="0">
              <a:solidFill>
                <a:srgbClr val="FF88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>
              <a:lnSpc>
                <a:spcPts val="2636"/>
              </a:lnSpc>
              <a:spcBef>
                <a:spcPct val="0"/>
              </a:spcBef>
            </a:pPr>
            <a:endParaRPr lang="en-US" sz="1883" u="none" strike="noStrike" spc="94" dirty="0">
              <a:solidFill>
                <a:srgbClr val="FF88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64E05CA-F5FD-B558-C2B7-FC89916E6AEF}"/>
              </a:ext>
            </a:extLst>
          </p:cNvPr>
          <p:cNvSpPr/>
          <p:nvPr/>
        </p:nvSpPr>
        <p:spPr>
          <a:xfrm>
            <a:off x="15465507" y="7759880"/>
            <a:ext cx="5686212" cy="5686212"/>
          </a:xfrm>
          <a:custGeom>
            <a:avLst/>
            <a:gdLst/>
            <a:ahLst/>
            <a:cxnLst/>
            <a:rect l="l" t="t" r="r" b="b"/>
            <a:pathLst>
              <a:path w="5686212" h="5686212">
                <a:moveTo>
                  <a:pt x="0" y="0"/>
                </a:moveTo>
                <a:lnTo>
                  <a:pt x="5686213" y="0"/>
                </a:lnTo>
                <a:lnTo>
                  <a:pt x="5686213" y="5686212"/>
                </a:lnTo>
                <a:lnTo>
                  <a:pt x="0" y="56862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PE"/>
          </a:p>
        </p:txBody>
      </p:sp>
      <p:sp>
        <p:nvSpPr>
          <p:cNvPr id="3" name="Freeform 19">
            <a:extLst>
              <a:ext uri="{FF2B5EF4-FFF2-40B4-BE49-F238E27FC236}">
                <a16:creationId xmlns:a16="http://schemas.microsoft.com/office/drawing/2014/main" id="{DCC234F9-AFDC-873D-B98C-B08A16146B10}"/>
              </a:ext>
            </a:extLst>
          </p:cNvPr>
          <p:cNvSpPr/>
          <p:nvPr/>
        </p:nvSpPr>
        <p:spPr>
          <a:xfrm>
            <a:off x="14946851" y="5143500"/>
            <a:ext cx="2512777" cy="4626425"/>
          </a:xfrm>
          <a:custGeom>
            <a:avLst/>
            <a:gdLst/>
            <a:ahLst/>
            <a:cxnLst/>
            <a:rect l="l" t="t" r="r" b="b"/>
            <a:pathLst>
              <a:path w="609057" h="970960">
                <a:moveTo>
                  <a:pt x="0" y="0"/>
                </a:moveTo>
                <a:lnTo>
                  <a:pt x="609057" y="0"/>
                </a:lnTo>
                <a:lnTo>
                  <a:pt x="609057" y="970959"/>
                </a:lnTo>
                <a:lnTo>
                  <a:pt x="0" y="9709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0C8D7713-11C3-6963-FA70-ED696868D4BE}"/>
              </a:ext>
            </a:extLst>
          </p:cNvPr>
          <p:cNvSpPr txBox="1"/>
          <p:nvPr/>
        </p:nvSpPr>
        <p:spPr>
          <a:xfrm>
            <a:off x="828372" y="1222091"/>
            <a:ext cx="7560969" cy="988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78"/>
              </a:lnSpc>
              <a:spcBef>
                <a:spcPct val="0"/>
              </a:spcBef>
            </a:pPr>
            <a:r>
              <a:rPr lang="en-US" sz="5699" b="1" dirty="0">
                <a:solidFill>
                  <a:srgbClr val="2C2B2B"/>
                </a:solidFill>
                <a:latin typeface="Roboto Bold"/>
                <a:ea typeface="Roboto Bold"/>
                <a:cs typeface="Roboto Bold"/>
                <a:sym typeface="Roboto Bold"/>
              </a:rPr>
              <a:t>What did we find?</a:t>
            </a:r>
          </a:p>
        </p:txBody>
      </p:sp>
    </p:spTree>
    <p:extLst>
      <p:ext uri="{BB962C8B-B14F-4D97-AF65-F5344CB8AC3E}">
        <p14:creationId xmlns:p14="http://schemas.microsoft.com/office/powerpoint/2010/main" val="1960489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79659-01E5-4076-BDE4-E4F9B1CFC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BABFB223-28AB-C1F1-85F1-6357EC9ED1C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52500"/>
            <a:ext cx="18288000" cy="12192000"/>
          </a:xfrm>
          <a:prstGeom prst="rect">
            <a:avLst/>
          </a:prstGeom>
        </p:spPr>
      </p:pic>
      <p:sp>
        <p:nvSpPr>
          <p:cNvPr id="18" name="Freeform 24">
            <a:extLst>
              <a:ext uri="{FF2B5EF4-FFF2-40B4-BE49-F238E27FC236}">
                <a16:creationId xmlns:a16="http://schemas.microsoft.com/office/drawing/2014/main" id="{556DBAE5-D69C-BBE6-A4BC-641C46261933}"/>
              </a:ext>
            </a:extLst>
          </p:cNvPr>
          <p:cNvSpPr/>
          <p:nvPr/>
        </p:nvSpPr>
        <p:spPr>
          <a:xfrm>
            <a:off x="1000125" y="8892854"/>
            <a:ext cx="3632240" cy="635642"/>
          </a:xfrm>
          <a:custGeom>
            <a:avLst/>
            <a:gdLst/>
            <a:ahLst/>
            <a:cxnLst/>
            <a:rect l="l" t="t" r="r" b="b"/>
            <a:pathLst>
              <a:path w="3632240" h="635642">
                <a:moveTo>
                  <a:pt x="0" y="0"/>
                </a:moveTo>
                <a:lnTo>
                  <a:pt x="3632240" y="0"/>
                </a:lnTo>
                <a:lnTo>
                  <a:pt x="3632240" y="635642"/>
                </a:lnTo>
                <a:lnTo>
                  <a:pt x="0" y="6356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681BE74-EA54-A5E5-EA5B-88BE5EDBC9C9}"/>
              </a:ext>
            </a:extLst>
          </p:cNvPr>
          <p:cNvSpPr txBox="1"/>
          <p:nvPr/>
        </p:nvSpPr>
        <p:spPr>
          <a:xfrm>
            <a:off x="888848" y="192658"/>
            <a:ext cx="16510304" cy="13574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01"/>
              </a:lnSpc>
              <a:spcBef>
                <a:spcPct val="0"/>
              </a:spcBef>
            </a:pPr>
            <a:r>
              <a:rPr lang="en-US" sz="8144" b="1" dirty="0">
                <a:solidFill>
                  <a:srgbClr val="FF8800"/>
                </a:solidFill>
                <a:latin typeface="Roboto Bold"/>
                <a:ea typeface="Roboto Bold"/>
                <a:cs typeface="Roboto Bold"/>
                <a:sym typeface="Roboto Bold"/>
              </a:rPr>
              <a:t>Our Process</a:t>
            </a: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F3B1FCE0-C713-F9A7-5250-F785E92037E5}"/>
              </a:ext>
            </a:extLst>
          </p:cNvPr>
          <p:cNvSpPr/>
          <p:nvPr/>
        </p:nvSpPr>
        <p:spPr>
          <a:xfrm>
            <a:off x="15465507" y="7759880"/>
            <a:ext cx="5686212" cy="5686212"/>
          </a:xfrm>
          <a:custGeom>
            <a:avLst/>
            <a:gdLst/>
            <a:ahLst/>
            <a:cxnLst/>
            <a:rect l="l" t="t" r="r" b="b"/>
            <a:pathLst>
              <a:path w="5686212" h="5686212">
                <a:moveTo>
                  <a:pt x="0" y="0"/>
                </a:moveTo>
                <a:lnTo>
                  <a:pt x="5686213" y="0"/>
                </a:lnTo>
                <a:lnTo>
                  <a:pt x="5686213" y="5686212"/>
                </a:lnTo>
                <a:lnTo>
                  <a:pt x="0" y="56862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Box 16">
            <a:extLst>
              <a:ext uri="{FF2B5EF4-FFF2-40B4-BE49-F238E27FC236}">
                <a16:creationId xmlns:a16="http://schemas.microsoft.com/office/drawing/2014/main" id="{0DE0DD77-DBED-4992-D295-3DC81BED0B18}"/>
              </a:ext>
            </a:extLst>
          </p:cNvPr>
          <p:cNvSpPr txBox="1"/>
          <p:nvPr/>
        </p:nvSpPr>
        <p:spPr>
          <a:xfrm>
            <a:off x="753148" y="1385599"/>
            <a:ext cx="16510304" cy="8770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5699" b="1" dirty="0">
                <a:solidFill>
                  <a:srgbClr val="2C2B2B"/>
                </a:solidFill>
                <a:latin typeface="Roboto Bold"/>
                <a:ea typeface="Roboto Bold"/>
                <a:cs typeface="Roboto Bold"/>
                <a:sym typeface="Roboto Bold"/>
              </a:rPr>
              <a:t>Process used to approach these problems </a:t>
            </a:r>
          </a:p>
        </p:txBody>
      </p:sp>
    </p:spTree>
    <p:extLst>
      <p:ext uri="{BB962C8B-B14F-4D97-AF65-F5344CB8AC3E}">
        <p14:creationId xmlns:p14="http://schemas.microsoft.com/office/powerpoint/2010/main" val="3436824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61AB2216-D2C5-48E1-1D1C-8405262F8C4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52500"/>
            <a:ext cx="18288000" cy="12192000"/>
          </a:xfrm>
          <a:prstGeom prst="rect">
            <a:avLst/>
          </a:prstGeom>
        </p:spPr>
      </p:pic>
      <p:sp>
        <p:nvSpPr>
          <p:cNvPr id="18" name="Freeform 24">
            <a:extLst>
              <a:ext uri="{FF2B5EF4-FFF2-40B4-BE49-F238E27FC236}">
                <a16:creationId xmlns:a16="http://schemas.microsoft.com/office/drawing/2014/main" id="{9FA02A08-11D9-C32C-8B37-3C0E8E4B7E07}"/>
              </a:ext>
            </a:extLst>
          </p:cNvPr>
          <p:cNvSpPr/>
          <p:nvPr/>
        </p:nvSpPr>
        <p:spPr>
          <a:xfrm>
            <a:off x="1000125" y="8937098"/>
            <a:ext cx="3632240" cy="635642"/>
          </a:xfrm>
          <a:custGeom>
            <a:avLst/>
            <a:gdLst/>
            <a:ahLst/>
            <a:cxnLst/>
            <a:rect l="l" t="t" r="r" b="b"/>
            <a:pathLst>
              <a:path w="3632240" h="635642">
                <a:moveTo>
                  <a:pt x="0" y="0"/>
                </a:moveTo>
                <a:lnTo>
                  <a:pt x="3632240" y="0"/>
                </a:lnTo>
                <a:lnTo>
                  <a:pt x="3632240" y="635642"/>
                </a:lnTo>
                <a:lnTo>
                  <a:pt x="0" y="6356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grpSp>
        <p:nvGrpSpPr>
          <p:cNvPr id="4" name="Group 4"/>
          <p:cNvGrpSpPr/>
          <p:nvPr/>
        </p:nvGrpSpPr>
        <p:grpSpPr>
          <a:xfrm>
            <a:off x="250723" y="2397002"/>
            <a:ext cx="8760542" cy="6495851"/>
            <a:chOff x="0" y="0"/>
            <a:chExt cx="1345917" cy="105222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45917" cy="1052224"/>
            </a:xfrm>
            <a:custGeom>
              <a:avLst/>
              <a:gdLst/>
              <a:ahLst/>
              <a:cxnLst/>
              <a:rect l="l" t="t" r="r" b="b"/>
              <a:pathLst>
                <a:path w="1345917" h="1052224">
                  <a:moveTo>
                    <a:pt x="86353" y="0"/>
                  </a:moveTo>
                  <a:lnTo>
                    <a:pt x="1259564" y="0"/>
                  </a:lnTo>
                  <a:cubicBezTo>
                    <a:pt x="1282466" y="0"/>
                    <a:pt x="1304431" y="9098"/>
                    <a:pt x="1320625" y="25292"/>
                  </a:cubicBezTo>
                  <a:cubicBezTo>
                    <a:pt x="1336820" y="41487"/>
                    <a:pt x="1345917" y="63451"/>
                    <a:pt x="1345917" y="86353"/>
                  </a:cubicBezTo>
                  <a:lnTo>
                    <a:pt x="1345917" y="965870"/>
                  </a:lnTo>
                  <a:cubicBezTo>
                    <a:pt x="1345917" y="988773"/>
                    <a:pt x="1336820" y="1010737"/>
                    <a:pt x="1320625" y="1026931"/>
                  </a:cubicBezTo>
                  <a:cubicBezTo>
                    <a:pt x="1304431" y="1043126"/>
                    <a:pt x="1282466" y="1052224"/>
                    <a:pt x="1259564" y="1052224"/>
                  </a:cubicBezTo>
                  <a:lnTo>
                    <a:pt x="86353" y="1052224"/>
                  </a:lnTo>
                  <a:cubicBezTo>
                    <a:pt x="63451" y="1052224"/>
                    <a:pt x="41487" y="1043126"/>
                    <a:pt x="25292" y="1026931"/>
                  </a:cubicBezTo>
                  <a:cubicBezTo>
                    <a:pt x="9098" y="1010737"/>
                    <a:pt x="0" y="988773"/>
                    <a:pt x="0" y="965870"/>
                  </a:cubicBezTo>
                  <a:lnTo>
                    <a:pt x="0" y="86353"/>
                  </a:lnTo>
                  <a:cubicBezTo>
                    <a:pt x="0" y="63451"/>
                    <a:pt x="9098" y="41487"/>
                    <a:pt x="25292" y="25292"/>
                  </a:cubicBezTo>
                  <a:cubicBezTo>
                    <a:pt x="41487" y="9098"/>
                    <a:pt x="63451" y="0"/>
                    <a:pt x="86353" y="0"/>
                  </a:cubicBezTo>
                  <a:close/>
                </a:path>
              </a:pathLst>
            </a:custGeom>
            <a:solidFill>
              <a:srgbClr val="1A1E24"/>
            </a:solidFill>
          </p:spPr>
          <p:txBody>
            <a:bodyPr/>
            <a:lstStyle/>
            <a:p>
              <a:endParaRPr lang="es-PE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14300"/>
              <a:ext cx="1345917" cy="11665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68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0" y="43507"/>
            <a:ext cx="18288000" cy="13574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01"/>
              </a:lnSpc>
              <a:spcBef>
                <a:spcPct val="0"/>
              </a:spcBef>
            </a:pPr>
            <a:r>
              <a:rPr lang="en-US" sz="8144" b="1" dirty="0">
                <a:solidFill>
                  <a:srgbClr val="FF8800"/>
                </a:solidFill>
                <a:latin typeface="Roboto Bold"/>
                <a:ea typeface="Roboto Bold"/>
                <a:cs typeface="Roboto Bold"/>
                <a:sym typeface="Roboto Bold"/>
              </a:rPr>
              <a:t>Results that matter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614" y="1204465"/>
            <a:ext cx="18287999" cy="9169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98"/>
              </a:lnSpc>
              <a:spcBef>
                <a:spcPct val="0"/>
              </a:spcBef>
            </a:pPr>
            <a:r>
              <a:rPr lang="en-US" sz="5499" b="1" dirty="0">
                <a:solidFill>
                  <a:srgbClr val="2C2B2B"/>
                </a:solidFill>
                <a:latin typeface="Roboto Bold"/>
                <a:ea typeface="Roboto Bold"/>
                <a:cs typeface="Roboto Bold"/>
                <a:sym typeface="Roboto Bold"/>
              </a:rPr>
              <a:t>Day 1 Dashboard           vs.         Day 2 Dashboard</a:t>
            </a:r>
          </a:p>
        </p:txBody>
      </p:sp>
      <p:sp>
        <p:nvSpPr>
          <p:cNvPr id="8" name="Freeform 8"/>
          <p:cNvSpPr/>
          <p:nvPr/>
        </p:nvSpPr>
        <p:spPr>
          <a:xfrm>
            <a:off x="9387042" y="2397001"/>
            <a:ext cx="8760542" cy="6495851"/>
          </a:xfrm>
          <a:custGeom>
            <a:avLst/>
            <a:gdLst/>
            <a:ahLst/>
            <a:cxnLst/>
            <a:rect l="l" t="t" r="r" b="b"/>
            <a:pathLst>
              <a:path w="1436388" h="1052224">
                <a:moveTo>
                  <a:pt x="80914" y="0"/>
                </a:moveTo>
                <a:lnTo>
                  <a:pt x="1355474" y="0"/>
                </a:lnTo>
                <a:cubicBezTo>
                  <a:pt x="1376934" y="0"/>
                  <a:pt x="1397515" y="8525"/>
                  <a:pt x="1412689" y="23699"/>
                </a:cubicBezTo>
                <a:cubicBezTo>
                  <a:pt x="1427864" y="38874"/>
                  <a:pt x="1436388" y="59455"/>
                  <a:pt x="1436388" y="80914"/>
                </a:cubicBezTo>
                <a:lnTo>
                  <a:pt x="1436388" y="971309"/>
                </a:lnTo>
                <a:cubicBezTo>
                  <a:pt x="1436388" y="1015997"/>
                  <a:pt x="1400162" y="1052224"/>
                  <a:pt x="1355474" y="1052224"/>
                </a:cubicBezTo>
                <a:lnTo>
                  <a:pt x="80914" y="1052224"/>
                </a:lnTo>
                <a:cubicBezTo>
                  <a:pt x="59455" y="1052224"/>
                  <a:pt x="38874" y="1043699"/>
                  <a:pt x="23699" y="1028524"/>
                </a:cubicBezTo>
                <a:cubicBezTo>
                  <a:pt x="8525" y="1013350"/>
                  <a:pt x="0" y="992769"/>
                  <a:pt x="0" y="971309"/>
                </a:cubicBezTo>
                <a:lnTo>
                  <a:pt x="0" y="80914"/>
                </a:lnTo>
                <a:cubicBezTo>
                  <a:pt x="0" y="59455"/>
                  <a:pt x="8525" y="38874"/>
                  <a:pt x="23699" y="23699"/>
                </a:cubicBezTo>
                <a:cubicBezTo>
                  <a:pt x="38874" y="8525"/>
                  <a:pt x="59455" y="0"/>
                  <a:pt x="80914" y="0"/>
                </a:cubicBezTo>
                <a:close/>
              </a:path>
            </a:pathLst>
          </a:custGeom>
          <a:solidFill>
            <a:srgbClr val="FF8800"/>
          </a:solidFill>
        </p:spPr>
        <p:txBody>
          <a:bodyPr/>
          <a:lstStyle/>
          <a:p>
            <a:endParaRPr lang="es-PE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DB4F0B0-5042-FE49-E2C4-5D109F25CD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0211" y="2837413"/>
            <a:ext cx="8221222" cy="145752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D4AF571-F837-A5B7-1D26-D2A8730F1F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67" y="2837413"/>
            <a:ext cx="8268854" cy="145752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FC4C1CE-A834-88C4-7D20-E25EEC3099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158" y="4442328"/>
            <a:ext cx="8249801" cy="408679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36BB50C-5051-7FFC-CE84-982A674FCD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0874" y="4427677"/>
            <a:ext cx="8240275" cy="41153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36564-1FA9-34D8-B7A1-65BCB9FAC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39EC87A-3B96-5F20-D1F4-373416616AB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52500"/>
            <a:ext cx="18288000" cy="12192000"/>
          </a:xfrm>
          <a:prstGeom prst="rect">
            <a:avLst/>
          </a:prstGeom>
        </p:spPr>
      </p:pic>
      <p:sp>
        <p:nvSpPr>
          <p:cNvPr id="18" name="Freeform 24">
            <a:extLst>
              <a:ext uri="{FF2B5EF4-FFF2-40B4-BE49-F238E27FC236}">
                <a16:creationId xmlns:a16="http://schemas.microsoft.com/office/drawing/2014/main" id="{19CECD43-9847-317C-6493-E2B4747D4596}"/>
              </a:ext>
            </a:extLst>
          </p:cNvPr>
          <p:cNvSpPr/>
          <p:nvPr/>
        </p:nvSpPr>
        <p:spPr>
          <a:xfrm>
            <a:off x="1000125" y="8937098"/>
            <a:ext cx="3632240" cy="635642"/>
          </a:xfrm>
          <a:custGeom>
            <a:avLst/>
            <a:gdLst/>
            <a:ahLst/>
            <a:cxnLst/>
            <a:rect l="l" t="t" r="r" b="b"/>
            <a:pathLst>
              <a:path w="3632240" h="635642">
                <a:moveTo>
                  <a:pt x="0" y="0"/>
                </a:moveTo>
                <a:lnTo>
                  <a:pt x="3632240" y="0"/>
                </a:lnTo>
                <a:lnTo>
                  <a:pt x="3632240" y="635642"/>
                </a:lnTo>
                <a:lnTo>
                  <a:pt x="0" y="6356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366C1DA-EE2C-930B-08E9-72525648A8CC}"/>
              </a:ext>
            </a:extLst>
          </p:cNvPr>
          <p:cNvGrpSpPr/>
          <p:nvPr/>
        </p:nvGrpSpPr>
        <p:grpSpPr>
          <a:xfrm>
            <a:off x="250723" y="2397002"/>
            <a:ext cx="8760542" cy="6495851"/>
            <a:chOff x="0" y="0"/>
            <a:chExt cx="1345917" cy="105222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C66A261-3DEF-72F1-0234-705CC5379363}"/>
                </a:ext>
              </a:extLst>
            </p:cNvPr>
            <p:cNvSpPr/>
            <p:nvPr/>
          </p:nvSpPr>
          <p:spPr>
            <a:xfrm>
              <a:off x="0" y="0"/>
              <a:ext cx="1345917" cy="1052224"/>
            </a:xfrm>
            <a:custGeom>
              <a:avLst/>
              <a:gdLst/>
              <a:ahLst/>
              <a:cxnLst/>
              <a:rect l="l" t="t" r="r" b="b"/>
              <a:pathLst>
                <a:path w="1345917" h="1052224">
                  <a:moveTo>
                    <a:pt x="86353" y="0"/>
                  </a:moveTo>
                  <a:lnTo>
                    <a:pt x="1259564" y="0"/>
                  </a:lnTo>
                  <a:cubicBezTo>
                    <a:pt x="1282466" y="0"/>
                    <a:pt x="1304431" y="9098"/>
                    <a:pt x="1320625" y="25292"/>
                  </a:cubicBezTo>
                  <a:cubicBezTo>
                    <a:pt x="1336820" y="41487"/>
                    <a:pt x="1345917" y="63451"/>
                    <a:pt x="1345917" y="86353"/>
                  </a:cubicBezTo>
                  <a:lnTo>
                    <a:pt x="1345917" y="965870"/>
                  </a:lnTo>
                  <a:cubicBezTo>
                    <a:pt x="1345917" y="988773"/>
                    <a:pt x="1336820" y="1010737"/>
                    <a:pt x="1320625" y="1026931"/>
                  </a:cubicBezTo>
                  <a:cubicBezTo>
                    <a:pt x="1304431" y="1043126"/>
                    <a:pt x="1282466" y="1052224"/>
                    <a:pt x="1259564" y="1052224"/>
                  </a:cubicBezTo>
                  <a:lnTo>
                    <a:pt x="86353" y="1052224"/>
                  </a:lnTo>
                  <a:cubicBezTo>
                    <a:pt x="63451" y="1052224"/>
                    <a:pt x="41487" y="1043126"/>
                    <a:pt x="25292" y="1026931"/>
                  </a:cubicBezTo>
                  <a:cubicBezTo>
                    <a:pt x="9098" y="1010737"/>
                    <a:pt x="0" y="988773"/>
                    <a:pt x="0" y="965870"/>
                  </a:cubicBezTo>
                  <a:lnTo>
                    <a:pt x="0" y="86353"/>
                  </a:lnTo>
                  <a:cubicBezTo>
                    <a:pt x="0" y="63451"/>
                    <a:pt x="9098" y="41487"/>
                    <a:pt x="25292" y="25292"/>
                  </a:cubicBezTo>
                  <a:cubicBezTo>
                    <a:pt x="41487" y="9098"/>
                    <a:pt x="63451" y="0"/>
                    <a:pt x="86353" y="0"/>
                  </a:cubicBezTo>
                  <a:close/>
                </a:path>
              </a:pathLst>
            </a:custGeom>
            <a:solidFill>
              <a:srgbClr val="1A1E24"/>
            </a:solidFill>
          </p:spPr>
          <p:txBody>
            <a:bodyPr/>
            <a:lstStyle/>
            <a:p>
              <a:endParaRPr lang="es-PE" dirty="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9CCEE47-8D5F-C1B2-C4CB-E9F035D06B65}"/>
                </a:ext>
              </a:extLst>
            </p:cNvPr>
            <p:cNvSpPr txBox="1"/>
            <p:nvPr/>
          </p:nvSpPr>
          <p:spPr>
            <a:xfrm>
              <a:off x="0" y="-114300"/>
              <a:ext cx="1345917" cy="11665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68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935BD6B4-ECEB-3DE5-4B18-EDDEFD0BECFB}"/>
              </a:ext>
            </a:extLst>
          </p:cNvPr>
          <p:cNvSpPr txBox="1"/>
          <p:nvPr/>
        </p:nvSpPr>
        <p:spPr>
          <a:xfrm>
            <a:off x="0" y="43507"/>
            <a:ext cx="18288000" cy="13574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01"/>
              </a:lnSpc>
              <a:spcBef>
                <a:spcPct val="0"/>
              </a:spcBef>
            </a:pPr>
            <a:r>
              <a:rPr lang="en-US" sz="8144" b="1" dirty="0">
                <a:solidFill>
                  <a:srgbClr val="FF8800"/>
                </a:solidFill>
                <a:latin typeface="Roboto Bold"/>
                <a:ea typeface="Roboto Bold"/>
                <a:cs typeface="Roboto Bold"/>
                <a:sym typeface="Roboto Bold"/>
              </a:rPr>
              <a:t>Results that matter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C298918-31BE-2877-B96B-DDD31A4ED8E8}"/>
              </a:ext>
            </a:extLst>
          </p:cNvPr>
          <p:cNvSpPr txBox="1"/>
          <p:nvPr/>
        </p:nvSpPr>
        <p:spPr>
          <a:xfrm>
            <a:off x="20614" y="1204465"/>
            <a:ext cx="18287999" cy="9169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98"/>
              </a:lnSpc>
              <a:spcBef>
                <a:spcPct val="0"/>
              </a:spcBef>
            </a:pPr>
            <a:r>
              <a:rPr lang="en-US" sz="5499" b="1" dirty="0">
                <a:solidFill>
                  <a:srgbClr val="2C2B2B"/>
                </a:solidFill>
                <a:latin typeface="Roboto Bold"/>
                <a:ea typeface="Roboto Bold"/>
                <a:cs typeface="Roboto Bold"/>
                <a:sym typeface="Roboto Bold"/>
              </a:rPr>
              <a:t>Day 1 Dashboard           vs.         Day 2 Dashboard</a:t>
            </a: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01408F7B-9024-68EF-3F5B-E5319F3CEFAC}"/>
              </a:ext>
            </a:extLst>
          </p:cNvPr>
          <p:cNvSpPr/>
          <p:nvPr/>
        </p:nvSpPr>
        <p:spPr>
          <a:xfrm>
            <a:off x="15465507" y="7759880"/>
            <a:ext cx="5686212" cy="5686212"/>
          </a:xfrm>
          <a:custGeom>
            <a:avLst/>
            <a:gdLst/>
            <a:ahLst/>
            <a:cxnLst/>
            <a:rect l="l" t="t" r="r" b="b"/>
            <a:pathLst>
              <a:path w="5686212" h="5686212">
                <a:moveTo>
                  <a:pt x="0" y="0"/>
                </a:moveTo>
                <a:lnTo>
                  <a:pt x="5686213" y="0"/>
                </a:lnTo>
                <a:lnTo>
                  <a:pt x="5686213" y="5686212"/>
                </a:lnTo>
                <a:lnTo>
                  <a:pt x="0" y="56862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PE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0D8831C9-6FC9-855D-94AD-FB5A8029D3C8}"/>
              </a:ext>
            </a:extLst>
          </p:cNvPr>
          <p:cNvGrpSpPr/>
          <p:nvPr/>
        </p:nvGrpSpPr>
        <p:grpSpPr>
          <a:xfrm>
            <a:off x="9387042" y="2397001"/>
            <a:ext cx="8760542" cy="6495851"/>
            <a:chOff x="0" y="0"/>
            <a:chExt cx="1436388" cy="1052224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C84C258-F18D-EB5B-42F3-609A7438254A}"/>
                </a:ext>
              </a:extLst>
            </p:cNvPr>
            <p:cNvSpPr/>
            <p:nvPr/>
          </p:nvSpPr>
          <p:spPr>
            <a:xfrm>
              <a:off x="0" y="0"/>
              <a:ext cx="1436388" cy="1052224"/>
            </a:xfrm>
            <a:custGeom>
              <a:avLst/>
              <a:gdLst/>
              <a:ahLst/>
              <a:cxnLst/>
              <a:rect l="l" t="t" r="r" b="b"/>
              <a:pathLst>
                <a:path w="1436388" h="1052224">
                  <a:moveTo>
                    <a:pt x="80914" y="0"/>
                  </a:moveTo>
                  <a:lnTo>
                    <a:pt x="1355474" y="0"/>
                  </a:lnTo>
                  <a:cubicBezTo>
                    <a:pt x="1376934" y="0"/>
                    <a:pt x="1397515" y="8525"/>
                    <a:pt x="1412689" y="23699"/>
                  </a:cubicBezTo>
                  <a:cubicBezTo>
                    <a:pt x="1427864" y="38874"/>
                    <a:pt x="1436388" y="59455"/>
                    <a:pt x="1436388" y="80914"/>
                  </a:cubicBezTo>
                  <a:lnTo>
                    <a:pt x="1436388" y="971309"/>
                  </a:lnTo>
                  <a:cubicBezTo>
                    <a:pt x="1436388" y="1015997"/>
                    <a:pt x="1400162" y="1052224"/>
                    <a:pt x="1355474" y="1052224"/>
                  </a:cubicBezTo>
                  <a:lnTo>
                    <a:pt x="80914" y="1052224"/>
                  </a:lnTo>
                  <a:cubicBezTo>
                    <a:pt x="59455" y="1052224"/>
                    <a:pt x="38874" y="1043699"/>
                    <a:pt x="23699" y="1028524"/>
                  </a:cubicBezTo>
                  <a:cubicBezTo>
                    <a:pt x="8525" y="1013350"/>
                    <a:pt x="0" y="992769"/>
                    <a:pt x="0" y="971309"/>
                  </a:cubicBezTo>
                  <a:lnTo>
                    <a:pt x="0" y="80914"/>
                  </a:lnTo>
                  <a:cubicBezTo>
                    <a:pt x="0" y="59455"/>
                    <a:pt x="8525" y="38874"/>
                    <a:pt x="23699" y="23699"/>
                  </a:cubicBezTo>
                  <a:cubicBezTo>
                    <a:pt x="38874" y="8525"/>
                    <a:pt x="59455" y="0"/>
                    <a:pt x="80914" y="0"/>
                  </a:cubicBezTo>
                  <a:close/>
                </a:path>
              </a:pathLst>
            </a:custGeom>
            <a:solidFill>
              <a:srgbClr val="FF8800"/>
            </a:solidFill>
          </p:spPr>
          <p:txBody>
            <a:bodyPr/>
            <a:lstStyle/>
            <a:p>
              <a:endParaRPr lang="es-PE" b="1" dirty="0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C28E2384-C314-E5C2-8095-CCD789201516}"/>
                </a:ext>
              </a:extLst>
            </p:cNvPr>
            <p:cNvSpPr txBox="1"/>
            <p:nvPr/>
          </p:nvSpPr>
          <p:spPr>
            <a:xfrm>
              <a:off x="0" y="-114300"/>
              <a:ext cx="1436388" cy="11665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68"/>
                </a:lnSpc>
              </a:pPr>
              <a:endParaRPr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B098A179-2424-5046-31B5-D05DD516ED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6201" y="2691267"/>
            <a:ext cx="8402223" cy="305795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D630ABA-ECD9-8C72-29A1-A2B9CB9649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409" y="2691267"/>
            <a:ext cx="8383170" cy="305795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C9B296A-9631-2CB6-0446-137006D25B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409" y="6024838"/>
            <a:ext cx="8371840" cy="202778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53CBA8B-306A-0318-E4E1-58DFFD735F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66201" y="5922278"/>
            <a:ext cx="8402222" cy="204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989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</TotalTime>
  <Words>477</Words>
  <Application>Microsoft Office PowerPoint</Application>
  <PresentationFormat>Custom</PresentationFormat>
  <Paragraphs>44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Roboto</vt:lpstr>
      <vt:lpstr>Roboto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Staff Boom - Template</dc:title>
  <dc:creator>USER</dc:creator>
  <cp:lastModifiedBy>Ryan Headley</cp:lastModifiedBy>
  <cp:revision>13</cp:revision>
  <dcterms:created xsi:type="dcterms:W3CDTF">2006-08-16T00:00:00Z</dcterms:created>
  <dcterms:modified xsi:type="dcterms:W3CDTF">2026-05-08T20:12:26Z</dcterms:modified>
  <dc:identifier>DAGlqmpObQo</dc:identifier>
</cp:coreProperties>
</file>